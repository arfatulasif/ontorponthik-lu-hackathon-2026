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1622d55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51622d55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5abc47b91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5abc47b91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d9c67055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d9c67055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1d9112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51d9112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5abc47b91_57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5abc47b91_57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5abc47b91_6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5abc47b91_6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5abc47b91_67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5abc47b91_67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7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2" l="0" r="0" t="4363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7" l="9051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7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g3d5abc47b91_15_0)">
  <p:cSld name="Section header (g3d5abc47b91_15_0)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g3d5abc47b91_37_0)">
  <p:cSld name="Section header (g3d5abc47b91_37_0)"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g3d5abc47b91_15_0) (g3d5abc47b91_45_0)">
  <p:cSld name="Section header (g3d5abc47b91_15_0) (g3d5abc47b91_45_0)"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 1">
  <p:cSld name="Section title and description 1 2 (g3d5abc47b91_64_0)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jpg"/><Relationship Id="rId5" Type="http://schemas.openxmlformats.org/officeDocument/2006/relationships/image" Target="../media/image11.jpg"/><Relationship Id="rId6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1"/>
          <p:cNvGrpSpPr/>
          <p:nvPr/>
        </p:nvGrpSpPr>
        <p:grpSpPr>
          <a:xfrm>
            <a:off x="-1796978" y="-2389963"/>
            <a:ext cx="3373133" cy="3627045"/>
            <a:chOff x="830390" y="619678"/>
            <a:chExt cx="4814635" cy="1994525"/>
          </a:xfrm>
        </p:grpSpPr>
        <p:sp>
          <p:nvSpPr>
            <p:cNvPr id="150" name="Google Shape;150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 rot="-5400000">
              <a:off x="1366793" y="456188"/>
              <a:ext cx="45900" cy="3729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 rot="-5400000">
              <a:off x="995390" y="454678"/>
              <a:ext cx="45900" cy="3759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1"/>
          <p:cNvSpPr txBox="1"/>
          <p:nvPr>
            <p:ph type="title"/>
          </p:nvPr>
        </p:nvSpPr>
        <p:spPr>
          <a:xfrm>
            <a:off x="762000" y="7620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1A202C"/>
                </a:solidFill>
                <a:latin typeface="Raleway"/>
                <a:ea typeface="Raleway"/>
                <a:cs typeface="Raleway"/>
                <a:sym typeface="Raleway"/>
              </a:rPr>
              <a:t>ONTORPONTHIK</a:t>
            </a:r>
            <a:endParaRPr b="1" i="0" sz="3200">
              <a:solidFill>
                <a:srgbClr val="1A202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55" name="Google Shape;155;p21"/>
          <p:cNvGrpSpPr/>
          <p:nvPr/>
        </p:nvGrpSpPr>
        <p:grpSpPr>
          <a:xfrm>
            <a:off x="571500" y="1714500"/>
            <a:ext cx="2476500" cy="2857500"/>
            <a:chOff x="571500" y="1714500"/>
            <a:chExt cx="2476500" cy="2857500"/>
          </a:xfrm>
        </p:grpSpPr>
        <p:sp>
          <p:nvSpPr>
            <p:cNvPr id="156" name="Google Shape;156;p21"/>
            <p:cNvSpPr/>
            <p:nvPr/>
          </p:nvSpPr>
          <p:spPr>
            <a:xfrm>
              <a:off x="571500" y="1714500"/>
              <a:ext cx="2476500" cy="2857500"/>
            </a:xfrm>
            <a:prstGeom prst="roundRect">
              <a:avLst>
                <a:gd fmla="val 57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1"/>
            <p:cNvSpPr txBox="1"/>
            <p:nvPr/>
          </p:nvSpPr>
          <p:spPr>
            <a:xfrm>
              <a:off x="571500" y="1909953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3182C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3600">
                <a:solidFill>
                  <a:srgbClr val="3182C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8" name="Google Shape;158;p21"/>
            <p:cNvSpPr txBox="1"/>
            <p:nvPr/>
          </p:nvSpPr>
          <p:spPr>
            <a:xfrm>
              <a:off x="714375" y="247650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Arfatul Islam Asif</a:t>
              </a:r>
              <a:endParaRPr b="1" sz="18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18096"/>
                  </a:solidFill>
                  <a:latin typeface="Lato"/>
                  <a:ea typeface="Lato"/>
                  <a:cs typeface="Lato"/>
                  <a:sym typeface="Lato"/>
                </a:rPr>
                <a:t>Dept of Computer Science and Engineering, SUST</a:t>
              </a:r>
              <a:endParaRPr sz="1100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9" name="Google Shape;159;p21"/>
          <p:cNvGrpSpPr/>
          <p:nvPr/>
        </p:nvGrpSpPr>
        <p:grpSpPr>
          <a:xfrm>
            <a:off x="3333750" y="1714500"/>
            <a:ext cx="2476500" cy="2857500"/>
            <a:chOff x="3333750" y="1714500"/>
            <a:chExt cx="2476500" cy="2857500"/>
          </a:xfrm>
        </p:grpSpPr>
        <p:sp>
          <p:nvSpPr>
            <p:cNvPr id="160" name="Google Shape;160;p21"/>
            <p:cNvSpPr/>
            <p:nvPr/>
          </p:nvSpPr>
          <p:spPr>
            <a:xfrm>
              <a:off x="3333750" y="1714500"/>
              <a:ext cx="2476500" cy="2857500"/>
            </a:xfrm>
            <a:prstGeom prst="roundRect">
              <a:avLst>
                <a:gd fmla="val 57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1"/>
            <p:cNvSpPr txBox="1"/>
            <p:nvPr/>
          </p:nvSpPr>
          <p:spPr>
            <a:xfrm>
              <a:off x="3333750" y="1909953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3182C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3600">
                <a:solidFill>
                  <a:srgbClr val="3182C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2" name="Google Shape;162;p21"/>
            <p:cNvSpPr txBox="1"/>
            <p:nvPr/>
          </p:nvSpPr>
          <p:spPr>
            <a:xfrm>
              <a:off x="3476625" y="247650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Unayes Ahmed Khan</a:t>
              </a:r>
              <a:endParaRPr b="1" sz="18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18096"/>
                  </a:solidFill>
                  <a:latin typeface="Lato"/>
                  <a:ea typeface="Lato"/>
                  <a:cs typeface="Lato"/>
                  <a:sym typeface="Lato"/>
                </a:rPr>
                <a:t>Dept of Computer Science and Engineering, SUST</a:t>
              </a:r>
              <a:endParaRPr sz="1100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3" name="Google Shape;163;p21"/>
          <p:cNvGrpSpPr/>
          <p:nvPr/>
        </p:nvGrpSpPr>
        <p:grpSpPr>
          <a:xfrm>
            <a:off x="6096000" y="1714500"/>
            <a:ext cx="2476500" cy="2857500"/>
            <a:chOff x="6096000" y="1714500"/>
            <a:chExt cx="2476500" cy="2857500"/>
          </a:xfrm>
        </p:grpSpPr>
        <p:sp>
          <p:nvSpPr>
            <p:cNvPr id="164" name="Google Shape;164;p21"/>
            <p:cNvSpPr/>
            <p:nvPr/>
          </p:nvSpPr>
          <p:spPr>
            <a:xfrm>
              <a:off x="6096000" y="1714500"/>
              <a:ext cx="2476500" cy="2857500"/>
            </a:xfrm>
            <a:prstGeom prst="roundRect">
              <a:avLst>
                <a:gd fmla="val 576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6096000" y="1909953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3182C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3600">
                <a:solidFill>
                  <a:srgbClr val="3182C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6" name="Google Shape;166;p21"/>
            <p:cNvSpPr txBox="1"/>
            <p:nvPr/>
          </p:nvSpPr>
          <p:spPr>
            <a:xfrm>
              <a:off x="6238875" y="2476500"/>
              <a:ext cx="2190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D3748"/>
                  </a:solidFill>
                  <a:latin typeface="Lato"/>
                  <a:ea typeface="Lato"/>
                  <a:cs typeface="Lato"/>
                  <a:sym typeface="Lato"/>
                </a:rPr>
                <a:t>Mutaher Ahmed Shakil</a:t>
              </a:r>
              <a:endParaRPr b="1" sz="1800">
                <a:solidFill>
                  <a:srgbClr val="2D37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18096"/>
                  </a:solidFill>
                  <a:latin typeface="Lato"/>
                  <a:ea typeface="Lato"/>
                  <a:cs typeface="Lato"/>
                  <a:sym typeface="Lato"/>
                </a:rPr>
                <a:t>Dept of Industrial and Production Engineering, SUST</a:t>
              </a:r>
              <a:endParaRPr sz="1100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rtrait-oriented black smaptphone" id="171" name="Google Shape;171;p22"/>
          <p:cNvPicPr preferRelativeResize="0"/>
          <p:nvPr/>
        </p:nvPicPr>
        <p:blipFill rotWithShape="1">
          <a:blip r:embed="rId3">
            <a:alphaModFix/>
          </a:blip>
          <a:srcRect b="-6743" l="-24392" r="-16930" t="-7543"/>
          <a:stretch/>
        </p:blipFill>
        <p:spPr>
          <a:xfrm>
            <a:off x="6224500" y="754800"/>
            <a:ext cx="2066125" cy="3281551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4000" fadeDir="5400012" kx="0" rotWithShape="0" algn="bl" stA="20000" stPos="0" sy="-100000" ky="0"/>
          </a:effectLst>
        </p:spPr>
      </p:pic>
      <p:sp>
        <p:nvSpPr>
          <p:cNvPr id="172" name="Google Shape;172;p22"/>
          <p:cNvSpPr txBox="1"/>
          <p:nvPr>
            <p:ph type="ctrTitle"/>
          </p:nvPr>
        </p:nvSpPr>
        <p:spPr>
          <a:xfrm>
            <a:off x="729450" y="1322450"/>
            <a:ext cx="3787800" cy="14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r>
              <a:rPr lang="en" sz="43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Delta</a:t>
            </a:r>
            <a:endParaRPr sz="4700"/>
          </a:p>
        </p:txBody>
      </p:sp>
      <p:sp>
        <p:nvSpPr>
          <p:cNvPr id="173" name="Google Shape;173;p22"/>
          <p:cNvSpPr txBox="1"/>
          <p:nvPr>
            <p:ph idx="1" type="subTitle"/>
          </p:nvPr>
        </p:nvSpPr>
        <p:spPr>
          <a:xfrm>
            <a:off x="729600" y="2921750"/>
            <a:ext cx="3787800" cy="1637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636E"/>
                </a:solidFill>
                <a:latin typeface="Arial"/>
                <a:ea typeface="Arial"/>
                <a:cs typeface="Arial"/>
                <a:sym typeface="Arial"/>
              </a:rPr>
              <a:t>Digital Delta is a disaster-response logistics mobile app designed for flood-prone regions. It helps responders visualize the relief network, identify blocked routes, optimize delivery paths, simulateML-assisted flood prediction, manage inventory, and fall back to air-drop delivery when the ground network becomes unreachable.</a:t>
            </a:r>
            <a:endParaRPr sz="1200">
              <a:solidFill>
                <a:srgbClr val="5963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1397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636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636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2876" y="1163475"/>
            <a:ext cx="1287751" cy="24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3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180" name="Google Shape;180;p23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3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33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The Challenges of Disaster Management</a:t>
              </a:r>
              <a:endParaRPr b="1" sz="333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82" name="Google Shape;182;p23"/>
          <p:cNvGrpSpPr/>
          <p:nvPr/>
        </p:nvGrpSpPr>
        <p:grpSpPr>
          <a:xfrm>
            <a:off x="381000" y="1524000"/>
            <a:ext cx="2533800" cy="3048000"/>
            <a:chOff x="381000" y="1524000"/>
            <a:chExt cx="2533800" cy="3048000"/>
          </a:xfrm>
        </p:grpSpPr>
        <p:sp>
          <p:nvSpPr>
            <p:cNvPr id="183" name="Google Shape;183;p23"/>
            <p:cNvSpPr/>
            <p:nvPr/>
          </p:nvSpPr>
          <p:spPr>
            <a:xfrm>
              <a:off x="381000" y="1524000"/>
              <a:ext cx="2533800" cy="3048000"/>
            </a:xfrm>
            <a:prstGeom prst="roundRect">
              <a:avLst>
                <a:gd fmla="val 60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3"/>
            <p:cNvSpPr txBox="1"/>
            <p:nvPr/>
          </p:nvSpPr>
          <p:spPr>
            <a:xfrm>
              <a:off x="533400" y="172313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</a:t>
              </a:r>
              <a:endParaRPr sz="296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5" name="Google Shape;185;p23"/>
            <p:cNvSpPr txBox="1"/>
            <p:nvPr/>
          </p:nvSpPr>
          <p:spPr>
            <a:xfrm>
              <a:off x="533400" y="2286000"/>
              <a:ext cx="2229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Inventory Management</a:t>
              </a:r>
              <a:endParaRPr b="1" sz="18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Inefficient tracking and allocation of relief supplies often lead to resource waste or critical shortages in affected areas.</a:t>
              </a:r>
              <a:endParaRPr b="0" sz="13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86" name="Google Shape;186;p23"/>
          <p:cNvGrpSpPr/>
          <p:nvPr/>
        </p:nvGrpSpPr>
        <p:grpSpPr>
          <a:xfrm>
            <a:off x="3295650" y="1524000"/>
            <a:ext cx="2533800" cy="3048000"/>
            <a:chOff x="3295650" y="1524000"/>
            <a:chExt cx="2533800" cy="3048000"/>
          </a:xfrm>
        </p:grpSpPr>
        <p:sp>
          <p:nvSpPr>
            <p:cNvPr id="187" name="Google Shape;187;p23"/>
            <p:cNvSpPr/>
            <p:nvPr/>
          </p:nvSpPr>
          <p:spPr>
            <a:xfrm>
              <a:off x="3295650" y="1524000"/>
              <a:ext cx="2533800" cy="3048000"/>
            </a:xfrm>
            <a:prstGeom prst="roundRect">
              <a:avLst>
                <a:gd fmla="val 60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3"/>
            <p:cNvSpPr txBox="1"/>
            <p:nvPr/>
          </p:nvSpPr>
          <p:spPr>
            <a:xfrm>
              <a:off x="3448050" y="172313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96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9" name="Google Shape;189;p23"/>
            <p:cNvSpPr txBox="1"/>
            <p:nvPr/>
          </p:nvSpPr>
          <p:spPr>
            <a:xfrm>
              <a:off x="3448050" y="2286000"/>
              <a:ext cx="2229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Data Scarcity</a:t>
              </a:r>
              <a:endParaRPr b="1" sz="18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A lack of accurate, field-level data makes it difficult for responders to assess needs and make informed decisions quickly.</a:t>
              </a:r>
              <a:endParaRPr b="0" sz="13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90" name="Google Shape;190;p23"/>
          <p:cNvGrpSpPr/>
          <p:nvPr/>
        </p:nvGrpSpPr>
        <p:grpSpPr>
          <a:xfrm>
            <a:off x="6210300" y="1524000"/>
            <a:ext cx="2533800" cy="3048000"/>
            <a:chOff x="6210300" y="1524000"/>
            <a:chExt cx="2533800" cy="3048000"/>
          </a:xfrm>
        </p:grpSpPr>
        <p:sp>
          <p:nvSpPr>
            <p:cNvPr id="191" name="Google Shape;191;p23"/>
            <p:cNvSpPr/>
            <p:nvPr/>
          </p:nvSpPr>
          <p:spPr>
            <a:xfrm>
              <a:off x="6210300" y="1524000"/>
              <a:ext cx="2533800" cy="3048000"/>
            </a:xfrm>
            <a:prstGeom prst="roundRect">
              <a:avLst>
                <a:gd fmla="val 60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3"/>
            <p:cNvSpPr txBox="1"/>
            <p:nvPr/>
          </p:nvSpPr>
          <p:spPr>
            <a:xfrm>
              <a:off x="6362700" y="172313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signal_wifi_off</a:t>
              </a:r>
              <a:endParaRPr sz="296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3" name="Google Shape;193;p23"/>
            <p:cNvSpPr txBox="1"/>
            <p:nvPr/>
          </p:nvSpPr>
          <p:spPr>
            <a:xfrm>
              <a:off x="6362700" y="2286000"/>
              <a:ext cx="2229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Infrastructure Failures</a:t>
              </a:r>
              <a:endParaRPr b="1" sz="18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Disasters frequently destroy communication networks, leaving responders and victims without internet or basic connectivity.</a:t>
              </a:r>
              <a:endParaRPr b="0" sz="13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4"/>
          <p:cNvGrpSpPr/>
          <p:nvPr/>
        </p:nvGrpSpPr>
        <p:grpSpPr>
          <a:xfrm>
            <a:off x="-1947660" y="-2512545"/>
            <a:ext cx="3523815" cy="3749627"/>
            <a:chOff x="615315" y="552270"/>
            <a:chExt cx="5029710" cy="2061934"/>
          </a:xfrm>
        </p:grpSpPr>
        <p:sp>
          <p:nvSpPr>
            <p:cNvPr id="199" name="Google Shape;199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4"/>
            <p:cNvSpPr/>
            <p:nvPr/>
          </p:nvSpPr>
          <p:spPr>
            <a:xfrm rot="-5400000">
              <a:off x="1152195" y="389723"/>
              <a:ext cx="45900" cy="372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4"/>
            <p:cNvSpPr/>
            <p:nvPr/>
          </p:nvSpPr>
          <p:spPr>
            <a:xfrm rot="-5400000">
              <a:off x="780315" y="387270"/>
              <a:ext cx="45900" cy="37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4"/>
          <p:cNvSpPr txBox="1"/>
          <p:nvPr>
            <p:ph type="title"/>
          </p:nvPr>
        </p:nvSpPr>
        <p:spPr>
          <a:xfrm>
            <a:off x="762000" y="762000"/>
            <a:ext cx="7620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3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Solution: A Mobile Response App</a:t>
            </a:r>
            <a:endParaRPr b="1" sz="333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480">
                <a:solidFill>
                  <a:srgbClr val="E0F2F1"/>
                </a:solidFill>
                <a:latin typeface="Raleway"/>
                <a:ea typeface="Raleway"/>
                <a:cs typeface="Raleway"/>
                <a:sym typeface="Raleway"/>
              </a:rPr>
              <a:t>Designed to address critical needs through real-time logistics and predictive insights.</a:t>
            </a:r>
            <a:endParaRPr b="0" sz="1480">
              <a:solidFill>
                <a:srgbClr val="E0F2F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04" name="Google Shape;204;p24"/>
          <p:cNvGrpSpPr/>
          <p:nvPr/>
        </p:nvGrpSpPr>
        <p:grpSpPr>
          <a:xfrm>
            <a:off x="952500" y="2000400"/>
            <a:ext cx="7334250" cy="3143250"/>
            <a:chOff x="952500" y="2095500"/>
            <a:chExt cx="7334250" cy="3143250"/>
          </a:xfrm>
        </p:grpSpPr>
        <p:sp>
          <p:nvSpPr>
            <p:cNvPr id="205" name="Google Shape;205;p24"/>
            <p:cNvSpPr/>
            <p:nvPr/>
          </p:nvSpPr>
          <p:spPr>
            <a:xfrm>
              <a:off x="1047750" y="2190750"/>
              <a:ext cx="1524000" cy="3048000"/>
            </a:xfrm>
            <a:prstGeom prst="roundRect">
              <a:avLst>
                <a:gd fmla="val 12500" name="adj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3905250" y="2190750"/>
              <a:ext cx="1524000" cy="3048000"/>
            </a:xfrm>
            <a:prstGeom prst="roundRect">
              <a:avLst>
                <a:gd fmla="val 12500" name="adj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6762750" y="2190750"/>
              <a:ext cx="1524000" cy="3048000"/>
            </a:xfrm>
            <a:prstGeom prst="roundRect">
              <a:avLst>
                <a:gd fmla="val 12500" name="adj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" name="Google Shape;208;p24"/>
            <p:cNvPicPr preferRelativeResize="0"/>
            <p:nvPr/>
          </p:nvPicPr>
          <p:blipFill rotWithShape="1">
            <a:blip r:embed="rId4">
              <a:alphaModFix/>
            </a:blip>
            <a:srcRect b="6125" l="0" r="0" t="6125"/>
            <a:stretch/>
          </p:blipFill>
          <p:spPr>
            <a:xfrm>
              <a:off x="952500" y="2095500"/>
              <a:ext cx="1524000" cy="3048000"/>
            </a:xfrm>
            <a:prstGeom prst="roundRect">
              <a:avLst>
                <a:gd fmla="val 12500" name="adj"/>
              </a:avLst>
            </a:prstGeom>
            <a:noFill/>
            <a:ln>
              <a:noFill/>
            </a:ln>
          </p:spPr>
        </p:pic>
        <p:pic>
          <p:nvPicPr>
            <p:cNvPr id="209" name="Google Shape;209;p24"/>
            <p:cNvPicPr preferRelativeResize="0"/>
            <p:nvPr/>
          </p:nvPicPr>
          <p:blipFill rotWithShape="1">
            <a:blip r:embed="rId5">
              <a:alphaModFix/>
            </a:blip>
            <a:srcRect b="6125" l="0" r="0" t="6125"/>
            <a:stretch/>
          </p:blipFill>
          <p:spPr>
            <a:xfrm>
              <a:off x="3810000" y="2095500"/>
              <a:ext cx="1524000" cy="3048000"/>
            </a:xfrm>
            <a:prstGeom prst="roundRect">
              <a:avLst>
                <a:gd fmla="val 12500" name="adj"/>
              </a:avLst>
            </a:prstGeom>
            <a:noFill/>
            <a:ln>
              <a:noFill/>
            </a:ln>
          </p:spPr>
        </p:pic>
        <p:pic>
          <p:nvPicPr>
            <p:cNvPr id="210" name="Google Shape;210;p24"/>
            <p:cNvPicPr preferRelativeResize="0"/>
            <p:nvPr/>
          </p:nvPicPr>
          <p:blipFill rotWithShape="1">
            <a:blip r:embed="rId6">
              <a:alphaModFix/>
            </a:blip>
            <a:srcRect b="6125" l="0" r="0" t="6125"/>
            <a:stretch/>
          </p:blipFill>
          <p:spPr>
            <a:xfrm>
              <a:off x="6667500" y="2095500"/>
              <a:ext cx="1524000" cy="3048000"/>
            </a:xfrm>
            <a:prstGeom prst="roundRect">
              <a:avLst>
                <a:gd fmla="val 12500" name="adj"/>
              </a:avLst>
            </a:prstGeom>
            <a:noFill/>
            <a:ln>
              <a:noFill/>
            </a:ln>
          </p:spPr>
        </p:pic>
        <p:sp>
          <p:nvSpPr>
            <p:cNvPr id="211" name="Google Shape;211;p24"/>
            <p:cNvSpPr/>
            <p:nvPr/>
          </p:nvSpPr>
          <p:spPr>
            <a:xfrm>
              <a:off x="952500" y="2095500"/>
              <a:ext cx="1524000" cy="3048000"/>
            </a:xfrm>
            <a:prstGeom prst="roundRect">
              <a:avLst>
                <a:gd fmla="val 12500" name="adj"/>
              </a:avLst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3810000" y="2095500"/>
              <a:ext cx="1524000" cy="3048000"/>
            </a:xfrm>
            <a:prstGeom prst="roundRect">
              <a:avLst>
                <a:gd fmla="val 12500" name="adj"/>
              </a:avLst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6667500" y="2095500"/>
              <a:ext cx="1524000" cy="3048000"/>
            </a:xfrm>
            <a:prstGeom prst="roundRect">
              <a:avLst>
                <a:gd fmla="val 12500" name="adj"/>
              </a:avLst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24"/>
          <p:cNvGrpSpPr/>
          <p:nvPr/>
        </p:nvGrpSpPr>
        <p:grpSpPr>
          <a:xfrm>
            <a:off x="952500" y="1714500"/>
            <a:ext cx="7239000" cy="285900"/>
            <a:chOff x="952500" y="1714500"/>
            <a:chExt cx="7239000" cy="285900"/>
          </a:xfrm>
        </p:grpSpPr>
        <p:sp>
          <p:nvSpPr>
            <p:cNvPr id="215" name="Google Shape;215;p24"/>
            <p:cNvSpPr txBox="1"/>
            <p:nvPr/>
          </p:nvSpPr>
          <p:spPr>
            <a:xfrm>
              <a:off x="952500" y="17145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Logistics Queue</a:t>
              </a:r>
              <a:endParaRPr b="1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16" name="Google Shape;216;p24"/>
            <p:cNvSpPr txBox="1"/>
            <p:nvPr/>
          </p:nvSpPr>
          <p:spPr>
            <a:xfrm>
              <a:off x="3810000" y="17145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SLA Reporting</a:t>
              </a:r>
              <a:endParaRPr b="1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17" name="Google Shape;217;p24"/>
            <p:cNvSpPr txBox="1"/>
            <p:nvPr/>
          </p:nvSpPr>
          <p:spPr>
            <a:xfrm>
              <a:off x="6667500" y="171450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Route Mapping</a:t>
              </a:r>
              <a:endParaRPr b="1" sz="1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3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Let's Analyze the Stakeholders</a:t>
            </a:r>
            <a:endParaRPr b="1" sz="333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24" name="Google Shape;224;p25"/>
          <p:cNvGrpSpPr/>
          <p:nvPr/>
        </p:nvGrpSpPr>
        <p:grpSpPr>
          <a:xfrm>
            <a:off x="381000" y="1428750"/>
            <a:ext cx="1600200" cy="3238500"/>
            <a:chOff x="381000" y="1428750"/>
            <a:chExt cx="1600200" cy="3238500"/>
          </a:xfrm>
        </p:grpSpPr>
        <p:sp>
          <p:nvSpPr>
            <p:cNvPr id="225" name="Google Shape;225;p25"/>
            <p:cNvSpPr/>
            <p:nvPr/>
          </p:nvSpPr>
          <p:spPr>
            <a:xfrm>
              <a:off x="381000" y="1428750"/>
              <a:ext cx="1600200" cy="32385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5"/>
            <p:cNvSpPr txBox="1"/>
            <p:nvPr/>
          </p:nvSpPr>
          <p:spPr>
            <a:xfrm>
              <a:off x="533400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</a:t>
              </a:r>
              <a:endParaRPr sz="24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7" name="Google Shape;227;p25"/>
            <p:cNvSpPr txBox="1"/>
            <p:nvPr/>
          </p:nvSpPr>
          <p:spPr>
            <a:xfrm>
              <a:off x="533400" y="2095500"/>
              <a:ext cx="1295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Supply Manager</a:t>
              </a:r>
              <a:endParaRPr b="1" sz="14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Responsible for inventory tracking, resource allocation, and supply chain oversight during disaster relief efforts.</a:t>
              </a:r>
              <a:endParaRPr b="0" sz="11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28" name="Google Shape;228;p25"/>
          <p:cNvGrpSpPr/>
          <p:nvPr/>
        </p:nvGrpSpPr>
        <p:grpSpPr>
          <a:xfrm>
            <a:off x="2133600" y="1428750"/>
            <a:ext cx="1600200" cy="3238500"/>
            <a:chOff x="2133600" y="1428750"/>
            <a:chExt cx="1600200" cy="3238500"/>
          </a:xfrm>
        </p:grpSpPr>
        <p:sp>
          <p:nvSpPr>
            <p:cNvPr id="229" name="Google Shape;229;p25"/>
            <p:cNvSpPr/>
            <p:nvPr/>
          </p:nvSpPr>
          <p:spPr>
            <a:xfrm>
              <a:off x="2133600" y="1428750"/>
              <a:ext cx="1600200" cy="32385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5"/>
            <p:cNvSpPr txBox="1"/>
            <p:nvPr/>
          </p:nvSpPr>
          <p:spPr>
            <a:xfrm>
              <a:off x="2286000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4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1" name="Google Shape;231;p25"/>
            <p:cNvSpPr txBox="1"/>
            <p:nvPr/>
          </p:nvSpPr>
          <p:spPr>
            <a:xfrm>
              <a:off x="2286000" y="2095500"/>
              <a:ext cx="1295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Field Volunteer</a:t>
              </a:r>
              <a:endParaRPr b="1" sz="14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Operates at the ground level, distributing aid, gathering field data, and providing immediate assistance to victims.</a:t>
              </a:r>
              <a:endParaRPr b="0" sz="11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32" name="Google Shape;232;p25"/>
          <p:cNvGrpSpPr/>
          <p:nvPr/>
        </p:nvGrpSpPr>
        <p:grpSpPr>
          <a:xfrm>
            <a:off x="3886200" y="1428750"/>
            <a:ext cx="1600200" cy="3238500"/>
            <a:chOff x="3886200" y="1428750"/>
            <a:chExt cx="1600200" cy="3238500"/>
          </a:xfrm>
        </p:grpSpPr>
        <p:sp>
          <p:nvSpPr>
            <p:cNvPr id="233" name="Google Shape;233;p25"/>
            <p:cNvSpPr/>
            <p:nvPr/>
          </p:nvSpPr>
          <p:spPr>
            <a:xfrm>
              <a:off x="3886200" y="1428750"/>
              <a:ext cx="1600200" cy="32385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 txBox="1"/>
            <p:nvPr/>
          </p:nvSpPr>
          <p:spPr>
            <a:xfrm>
              <a:off x="4038600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</a:t>
              </a:r>
              <a:endParaRPr sz="24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5" name="Google Shape;235;p25"/>
            <p:cNvSpPr txBox="1"/>
            <p:nvPr/>
          </p:nvSpPr>
          <p:spPr>
            <a:xfrm>
              <a:off x="4038600" y="2095500"/>
              <a:ext cx="1295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Camp Commander</a:t>
              </a:r>
              <a:endParaRPr b="1" sz="14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Coordinates shelter operations, manages camp safety, and oversees the general welfare of displaced populations.</a:t>
              </a:r>
              <a:endParaRPr b="0" sz="11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36" name="Google Shape;236;p25"/>
          <p:cNvGrpSpPr/>
          <p:nvPr/>
        </p:nvGrpSpPr>
        <p:grpSpPr>
          <a:xfrm>
            <a:off x="5638800" y="1428750"/>
            <a:ext cx="1600200" cy="3238500"/>
            <a:chOff x="5638800" y="1428750"/>
            <a:chExt cx="1600200" cy="3238500"/>
          </a:xfrm>
        </p:grpSpPr>
        <p:sp>
          <p:nvSpPr>
            <p:cNvPr id="237" name="Google Shape;237;p25"/>
            <p:cNvSpPr/>
            <p:nvPr/>
          </p:nvSpPr>
          <p:spPr>
            <a:xfrm>
              <a:off x="5638800" y="1428750"/>
              <a:ext cx="1600200" cy="3238500"/>
            </a:xfrm>
            <a:prstGeom prst="roundRect">
              <a:avLst>
                <a:gd fmla="val 952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 txBox="1"/>
            <p:nvPr/>
          </p:nvSpPr>
          <p:spPr>
            <a:xfrm>
              <a:off x="5791200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airplanemode_active</a:t>
              </a:r>
              <a:endParaRPr sz="24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9" name="Google Shape;239;p25"/>
            <p:cNvSpPr txBox="1"/>
            <p:nvPr/>
          </p:nvSpPr>
          <p:spPr>
            <a:xfrm>
              <a:off x="5791200" y="2095500"/>
              <a:ext cx="12954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Drone Operator</a:t>
              </a:r>
              <a:endParaRPr b="1" sz="14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Utilizes aerial technology for terrain mapping, damage assessment, and potentially locating survivors in remote areas.</a:t>
              </a:r>
              <a:endParaRPr b="0" sz="11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40" name="Google Shape;240;p25"/>
          <p:cNvGrpSpPr/>
          <p:nvPr/>
        </p:nvGrpSpPr>
        <p:grpSpPr>
          <a:xfrm>
            <a:off x="7391400" y="1428750"/>
            <a:ext cx="1371600" cy="3238500"/>
            <a:chOff x="7391400" y="1428750"/>
            <a:chExt cx="1371600" cy="3238500"/>
          </a:xfrm>
        </p:grpSpPr>
        <p:sp>
          <p:nvSpPr>
            <p:cNvPr id="241" name="Google Shape;241;p25"/>
            <p:cNvSpPr/>
            <p:nvPr/>
          </p:nvSpPr>
          <p:spPr>
            <a:xfrm>
              <a:off x="7391400" y="1428750"/>
              <a:ext cx="1371600" cy="32385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5"/>
            <p:cNvSpPr txBox="1"/>
            <p:nvPr/>
          </p:nvSpPr>
          <p:spPr>
            <a:xfrm>
              <a:off x="7543800" y="16543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sz="240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3" name="Google Shape;243;p25"/>
            <p:cNvSpPr txBox="1"/>
            <p:nvPr/>
          </p:nvSpPr>
          <p:spPr>
            <a:xfrm>
              <a:off x="7543800" y="2095500"/>
              <a:ext cx="10668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Sync Admin</a:t>
              </a:r>
              <a:endParaRPr b="1" sz="14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Manages data synchronization across networks, ensuring critical info flows between field units and central command.</a:t>
              </a:r>
              <a:endParaRPr b="0" sz="11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48" name="Google Shape;2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99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3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Tech Stack</a:t>
            </a:r>
            <a:endParaRPr b="1" sz="333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55" name="Google Shape;255;p27"/>
          <p:cNvGrpSpPr/>
          <p:nvPr/>
        </p:nvGrpSpPr>
        <p:grpSpPr>
          <a:xfrm>
            <a:off x="381000" y="1524000"/>
            <a:ext cx="2533800" cy="3048000"/>
            <a:chOff x="381000" y="1524000"/>
            <a:chExt cx="2533800" cy="3048000"/>
          </a:xfrm>
        </p:grpSpPr>
        <p:sp>
          <p:nvSpPr>
            <p:cNvPr id="256" name="Google Shape;256;p27"/>
            <p:cNvSpPr/>
            <p:nvPr/>
          </p:nvSpPr>
          <p:spPr>
            <a:xfrm>
              <a:off x="381000" y="1524000"/>
              <a:ext cx="2533800" cy="3048000"/>
            </a:xfrm>
            <a:prstGeom prst="roundRect">
              <a:avLst>
                <a:gd fmla="val 60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7"/>
            <p:cNvSpPr txBox="1"/>
            <p:nvPr/>
          </p:nvSpPr>
          <p:spPr>
            <a:xfrm>
              <a:off x="533400" y="176123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phone_iphone</a:t>
              </a:r>
              <a:endParaRPr sz="296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8" name="Google Shape;258;p27"/>
            <p:cNvSpPr txBox="1"/>
            <p:nvPr/>
          </p:nvSpPr>
          <p:spPr>
            <a:xfrm>
              <a:off x="533400" y="2286000"/>
              <a:ext cx="2229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Mobile app</a:t>
              </a:r>
              <a:endParaRPr b="1" sz="18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Flutter | Dart</a:t>
              </a:r>
              <a:endParaRPr b="0" sz="14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3305099" y="1524000"/>
            <a:ext cx="2533800" cy="3048000"/>
            <a:chOff x="3305099" y="1524000"/>
            <a:chExt cx="2533800" cy="3048000"/>
          </a:xfrm>
        </p:grpSpPr>
        <p:sp>
          <p:nvSpPr>
            <p:cNvPr id="260" name="Google Shape;260;p27"/>
            <p:cNvSpPr/>
            <p:nvPr/>
          </p:nvSpPr>
          <p:spPr>
            <a:xfrm>
              <a:off x="3305099" y="1524000"/>
              <a:ext cx="2533800" cy="3048000"/>
            </a:xfrm>
            <a:prstGeom prst="roundRect">
              <a:avLst>
                <a:gd fmla="val 60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 txBox="1"/>
            <p:nvPr/>
          </p:nvSpPr>
          <p:spPr>
            <a:xfrm>
              <a:off x="3457499" y="176123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map</a:t>
              </a:r>
              <a:endParaRPr sz="296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2" name="Google Shape;262;p27"/>
            <p:cNvSpPr txBox="1"/>
            <p:nvPr/>
          </p:nvSpPr>
          <p:spPr>
            <a:xfrm>
              <a:off x="3457499" y="2286000"/>
              <a:ext cx="2229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Geospatial</a:t>
              </a:r>
              <a:endParaRPr b="1" sz="18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Leaflet.js</a:t>
              </a:r>
              <a:endParaRPr b="0" sz="14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63" name="Google Shape;263;p27"/>
          <p:cNvGrpSpPr/>
          <p:nvPr/>
        </p:nvGrpSpPr>
        <p:grpSpPr>
          <a:xfrm>
            <a:off x="6229198" y="1524000"/>
            <a:ext cx="2533800" cy="3048000"/>
            <a:chOff x="6229198" y="1524000"/>
            <a:chExt cx="2533800" cy="3048000"/>
          </a:xfrm>
        </p:grpSpPr>
        <p:sp>
          <p:nvSpPr>
            <p:cNvPr id="264" name="Google Shape;264;p27"/>
            <p:cNvSpPr/>
            <p:nvPr/>
          </p:nvSpPr>
          <p:spPr>
            <a:xfrm>
              <a:off x="6229198" y="1524000"/>
              <a:ext cx="2533800" cy="3048000"/>
            </a:xfrm>
            <a:prstGeom prst="roundRect">
              <a:avLst>
                <a:gd fmla="val 60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 txBox="1"/>
            <p:nvPr/>
          </p:nvSpPr>
          <p:spPr>
            <a:xfrm>
              <a:off x="6381598" y="1761236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1A998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960">
                <a:solidFill>
                  <a:srgbClr val="1A998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6" name="Google Shape;266;p27"/>
            <p:cNvSpPr txBox="1"/>
            <p:nvPr/>
          </p:nvSpPr>
          <p:spPr>
            <a:xfrm>
              <a:off x="6381598" y="2286000"/>
              <a:ext cx="2229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Raleway"/>
                  <a:ea typeface="Raleway"/>
                  <a:cs typeface="Raleway"/>
                  <a:sym typeface="Raleway"/>
                </a:rPr>
                <a:t>Storage</a:t>
              </a:r>
              <a:endParaRPr b="1" sz="1800">
                <a:solidFill>
                  <a:srgbClr val="1E293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Raleway"/>
                  <a:ea typeface="Raleway"/>
                  <a:cs typeface="Raleway"/>
                  <a:sym typeface="Raleway"/>
                </a:rPr>
                <a:t>SQLite</a:t>
              </a:r>
              <a:endParaRPr b="0" sz="1400">
                <a:solidFill>
                  <a:srgbClr val="64748B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esign this slide" id="271" name="Google Shape;2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